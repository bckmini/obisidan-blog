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5327650" cy="7559675"/>
  <p:notesSz cx="8191500" cy="10477500"/>
  <p:defaultTextStyle>
    <a:defPPr>
      <a:defRPr lang="en-US"/>
    </a:defPPr>
    <a:lvl1pPr marL="0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1pPr>
    <a:lvl2pPr marL="326166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2pPr>
    <a:lvl3pPr marL="652333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3pPr>
    <a:lvl4pPr marL="978499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4pPr>
    <a:lvl5pPr marL="1304666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5pPr>
    <a:lvl6pPr marL="1630832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6pPr>
    <a:lvl7pPr marL="1956999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7pPr>
    <a:lvl8pPr marL="2283165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8pPr>
    <a:lvl9pPr marL="2609332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8" userDrawn="1">
          <p15:clr>
            <a:srgbClr val="A4A3A4"/>
          </p15:clr>
        </p15:guide>
        <p15:guide id="2" pos="1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45"/>
    <p:restoredTop sz="94674"/>
  </p:normalViewPr>
  <p:slideViewPr>
    <p:cSldViewPr>
      <p:cViewPr>
        <p:scale>
          <a:sx n="154" d="100"/>
          <a:sy n="154" d="100"/>
        </p:scale>
        <p:origin x="768" y="-96"/>
      </p:cViewPr>
      <p:guideLst>
        <p:guide orient="horz" pos="1558"/>
        <p:guide pos="18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036" y="1537136"/>
            <a:ext cx="5055073" cy="10606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2072" y="2803952"/>
            <a:ext cx="4163001" cy="12645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973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94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920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89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86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84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81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78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785" y="3179647"/>
            <a:ext cx="5055073" cy="982758"/>
          </a:xfrm>
        </p:spPr>
        <p:txBody>
          <a:bodyPr anchor="t"/>
          <a:lstStyle>
            <a:lvl1pPr algn="l">
              <a:defRPr sz="260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9785" y="2097240"/>
            <a:ext cx="5055073" cy="1082408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297352" indent="0">
              <a:buNone/>
              <a:defRPr sz="1171">
                <a:solidFill>
                  <a:schemeClr val="tx1">
                    <a:tint val="75000"/>
                  </a:schemeClr>
                </a:solidFill>
              </a:defRPr>
            </a:lvl2pPr>
            <a:lvl3pPr marL="594704" indent="0">
              <a:buNone/>
              <a:defRPr sz="1041">
                <a:solidFill>
                  <a:schemeClr val="tx1">
                    <a:tint val="75000"/>
                  </a:schemeClr>
                </a:solidFill>
              </a:defRPr>
            </a:lvl3pPr>
            <a:lvl4pPr marL="892056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4pPr>
            <a:lvl5pPr marL="1189408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5pPr>
            <a:lvl6pPr marL="1486760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6pPr>
            <a:lvl7pPr marL="1784112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7pPr>
            <a:lvl8pPr marL="2081465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8pPr>
            <a:lvl9pPr marL="2378817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358" y="1154570"/>
            <a:ext cx="2626655" cy="3265551"/>
          </a:xfrm>
        </p:spPr>
        <p:txBody>
          <a:bodyPr/>
          <a:lstStyle>
            <a:lvl1pPr>
              <a:defRPr sz="1821"/>
            </a:lvl1pPr>
            <a:lvl2pPr>
              <a:defRPr sz="1561"/>
            </a:lvl2pPr>
            <a:lvl3pPr>
              <a:defRPr sz="1300"/>
            </a:lvl3pPr>
            <a:lvl4pPr>
              <a:defRPr sz="1171"/>
            </a:lvl4pPr>
            <a:lvl5pPr>
              <a:defRPr sz="1171"/>
            </a:lvl5pPr>
            <a:lvl6pPr>
              <a:defRPr sz="1171"/>
            </a:lvl6pPr>
            <a:lvl7pPr>
              <a:defRPr sz="1171"/>
            </a:lvl7pPr>
            <a:lvl8pPr>
              <a:defRPr sz="1171"/>
            </a:lvl8pPr>
            <a:lvl9pPr>
              <a:defRPr sz="11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133" y="1154570"/>
            <a:ext cx="2626655" cy="3265551"/>
          </a:xfrm>
        </p:spPr>
        <p:txBody>
          <a:bodyPr/>
          <a:lstStyle>
            <a:lvl1pPr>
              <a:defRPr sz="1821"/>
            </a:lvl1pPr>
            <a:lvl2pPr>
              <a:defRPr sz="1561"/>
            </a:lvl2pPr>
            <a:lvl3pPr>
              <a:defRPr sz="1300"/>
            </a:lvl3pPr>
            <a:lvl4pPr>
              <a:defRPr sz="1171"/>
            </a:lvl4pPr>
            <a:lvl5pPr>
              <a:defRPr sz="1171"/>
            </a:lvl5pPr>
            <a:lvl6pPr>
              <a:defRPr sz="1171"/>
            </a:lvl6pPr>
            <a:lvl7pPr>
              <a:defRPr sz="1171"/>
            </a:lvl7pPr>
            <a:lvl8pPr>
              <a:defRPr sz="1171"/>
            </a:lvl8pPr>
            <a:lvl9pPr>
              <a:defRPr sz="11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357" y="1107609"/>
            <a:ext cx="2627688" cy="461598"/>
          </a:xfrm>
        </p:spPr>
        <p:txBody>
          <a:bodyPr anchor="b"/>
          <a:lstStyle>
            <a:lvl1pPr marL="0" indent="0">
              <a:buNone/>
              <a:defRPr sz="1561" b="1"/>
            </a:lvl1pPr>
            <a:lvl2pPr marL="297352" indent="0">
              <a:buNone/>
              <a:defRPr sz="1300" b="1"/>
            </a:lvl2pPr>
            <a:lvl3pPr marL="594704" indent="0">
              <a:buNone/>
              <a:defRPr sz="1171" b="1"/>
            </a:lvl3pPr>
            <a:lvl4pPr marL="892056" indent="0">
              <a:buNone/>
              <a:defRPr sz="1041" b="1"/>
            </a:lvl4pPr>
            <a:lvl5pPr marL="1189408" indent="0">
              <a:buNone/>
              <a:defRPr sz="1041" b="1"/>
            </a:lvl5pPr>
            <a:lvl6pPr marL="1486760" indent="0">
              <a:buNone/>
              <a:defRPr sz="1041" b="1"/>
            </a:lvl6pPr>
            <a:lvl7pPr marL="1784112" indent="0">
              <a:buNone/>
              <a:defRPr sz="1041" b="1"/>
            </a:lvl7pPr>
            <a:lvl8pPr marL="2081465" indent="0">
              <a:buNone/>
              <a:defRPr sz="1041" b="1"/>
            </a:lvl8pPr>
            <a:lvl9pPr marL="2378817" indent="0">
              <a:buNone/>
              <a:defRPr sz="10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357" y="1569207"/>
            <a:ext cx="2627688" cy="2850915"/>
          </a:xfrm>
        </p:spPr>
        <p:txBody>
          <a:bodyPr/>
          <a:lstStyle>
            <a:lvl1pPr>
              <a:defRPr sz="1561"/>
            </a:lvl1pPr>
            <a:lvl2pPr>
              <a:defRPr sz="1300"/>
            </a:lvl2pPr>
            <a:lvl3pPr>
              <a:defRPr sz="1171"/>
            </a:lvl3pPr>
            <a:lvl4pPr>
              <a:defRPr sz="1041"/>
            </a:lvl4pPr>
            <a:lvl5pPr>
              <a:defRPr sz="1041"/>
            </a:lvl5pPr>
            <a:lvl6pPr>
              <a:defRPr sz="1041"/>
            </a:lvl6pPr>
            <a:lvl7pPr>
              <a:defRPr sz="1041"/>
            </a:lvl7pPr>
            <a:lvl8pPr>
              <a:defRPr sz="1041"/>
            </a:lvl8pPr>
            <a:lvl9pPr>
              <a:defRPr sz="10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21068" y="1107609"/>
            <a:ext cx="2628721" cy="461598"/>
          </a:xfrm>
        </p:spPr>
        <p:txBody>
          <a:bodyPr anchor="b"/>
          <a:lstStyle>
            <a:lvl1pPr marL="0" indent="0">
              <a:buNone/>
              <a:defRPr sz="1561" b="1"/>
            </a:lvl1pPr>
            <a:lvl2pPr marL="297352" indent="0">
              <a:buNone/>
              <a:defRPr sz="1300" b="1"/>
            </a:lvl2pPr>
            <a:lvl3pPr marL="594704" indent="0">
              <a:buNone/>
              <a:defRPr sz="1171" b="1"/>
            </a:lvl3pPr>
            <a:lvl4pPr marL="892056" indent="0">
              <a:buNone/>
              <a:defRPr sz="1041" b="1"/>
            </a:lvl4pPr>
            <a:lvl5pPr marL="1189408" indent="0">
              <a:buNone/>
              <a:defRPr sz="1041" b="1"/>
            </a:lvl5pPr>
            <a:lvl6pPr marL="1486760" indent="0">
              <a:buNone/>
              <a:defRPr sz="1041" b="1"/>
            </a:lvl6pPr>
            <a:lvl7pPr marL="1784112" indent="0">
              <a:buNone/>
              <a:defRPr sz="1041" b="1"/>
            </a:lvl7pPr>
            <a:lvl8pPr marL="2081465" indent="0">
              <a:buNone/>
              <a:defRPr sz="1041" b="1"/>
            </a:lvl8pPr>
            <a:lvl9pPr marL="2378817" indent="0">
              <a:buNone/>
              <a:defRPr sz="10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21068" y="1569207"/>
            <a:ext cx="2628721" cy="2850915"/>
          </a:xfrm>
        </p:spPr>
        <p:txBody>
          <a:bodyPr/>
          <a:lstStyle>
            <a:lvl1pPr>
              <a:defRPr sz="1561"/>
            </a:lvl1pPr>
            <a:lvl2pPr>
              <a:defRPr sz="1300"/>
            </a:lvl2pPr>
            <a:lvl3pPr>
              <a:defRPr sz="1171"/>
            </a:lvl3pPr>
            <a:lvl4pPr>
              <a:defRPr sz="1041"/>
            </a:lvl4pPr>
            <a:lvl5pPr>
              <a:defRPr sz="1041"/>
            </a:lvl5pPr>
            <a:lvl6pPr>
              <a:defRPr sz="1041"/>
            </a:lvl6pPr>
            <a:lvl7pPr>
              <a:defRPr sz="1041"/>
            </a:lvl7pPr>
            <a:lvl8pPr>
              <a:defRPr sz="1041"/>
            </a:lvl8pPr>
            <a:lvl9pPr>
              <a:defRPr sz="10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359" y="197009"/>
            <a:ext cx="1956569" cy="838437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5169" y="197012"/>
            <a:ext cx="3324619" cy="4223109"/>
          </a:xfrm>
        </p:spPr>
        <p:txBody>
          <a:bodyPr/>
          <a:lstStyle>
            <a:lvl1pPr>
              <a:defRPr sz="2081"/>
            </a:lvl1pPr>
            <a:lvl2pPr>
              <a:defRPr sz="1821"/>
            </a:lvl2pPr>
            <a:lvl3pPr>
              <a:defRPr sz="1561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359" y="1035449"/>
            <a:ext cx="1956569" cy="3384673"/>
          </a:xfrm>
        </p:spPr>
        <p:txBody>
          <a:bodyPr/>
          <a:lstStyle>
            <a:lvl1pPr marL="0" indent="0">
              <a:buNone/>
              <a:defRPr sz="910"/>
            </a:lvl1pPr>
            <a:lvl2pPr marL="297352" indent="0">
              <a:buNone/>
              <a:defRPr sz="780"/>
            </a:lvl2pPr>
            <a:lvl3pPr marL="594704" indent="0">
              <a:buNone/>
              <a:defRPr sz="651"/>
            </a:lvl3pPr>
            <a:lvl4pPr marL="892056" indent="0">
              <a:buNone/>
              <a:defRPr sz="585"/>
            </a:lvl4pPr>
            <a:lvl5pPr marL="1189408" indent="0">
              <a:buNone/>
              <a:defRPr sz="585"/>
            </a:lvl5pPr>
            <a:lvl6pPr marL="1486760" indent="0">
              <a:buNone/>
              <a:defRPr sz="585"/>
            </a:lvl6pPr>
            <a:lvl7pPr marL="1784112" indent="0">
              <a:buNone/>
              <a:defRPr sz="585"/>
            </a:lvl7pPr>
            <a:lvl8pPr marL="2081465" indent="0">
              <a:buNone/>
              <a:defRPr sz="585"/>
            </a:lvl8pPr>
            <a:lvl9pPr marL="2378817" indent="0">
              <a:buNone/>
              <a:defRPr sz="5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683" y="3463705"/>
            <a:ext cx="3568286" cy="40891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65683" y="442127"/>
            <a:ext cx="3568286" cy="2968890"/>
          </a:xfrm>
        </p:spPr>
        <p:txBody>
          <a:bodyPr/>
          <a:lstStyle>
            <a:lvl1pPr marL="0" indent="0">
              <a:buNone/>
              <a:defRPr sz="2081"/>
            </a:lvl1pPr>
            <a:lvl2pPr marL="297352" indent="0">
              <a:buNone/>
              <a:defRPr sz="1821"/>
            </a:lvl2pPr>
            <a:lvl3pPr marL="594704" indent="0">
              <a:buNone/>
              <a:defRPr sz="1561"/>
            </a:lvl3pPr>
            <a:lvl4pPr marL="892056" indent="0">
              <a:buNone/>
              <a:defRPr sz="1300"/>
            </a:lvl4pPr>
            <a:lvl5pPr marL="1189408" indent="0">
              <a:buNone/>
              <a:defRPr sz="1300"/>
            </a:lvl5pPr>
            <a:lvl6pPr marL="1486760" indent="0">
              <a:buNone/>
              <a:defRPr sz="1300"/>
            </a:lvl6pPr>
            <a:lvl7pPr marL="1784112" indent="0">
              <a:buNone/>
              <a:defRPr sz="1300"/>
            </a:lvl7pPr>
            <a:lvl8pPr marL="2081465" indent="0">
              <a:buNone/>
              <a:defRPr sz="1300"/>
            </a:lvl8pPr>
            <a:lvl9pPr marL="2378817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5683" y="3872617"/>
            <a:ext cx="3568286" cy="580720"/>
          </a:xfrm>
        </p:spPr>
        <p:txBody>
          <a:bodyPr/>
          <a:lstStyle>
            <a:lvl1pPr marL="0" indent="0">
              <a:buNone/>
              <a:defRPr sz="910"/>
            </a:lvl1pPr>
            <a:lvl2pPr marL="297352" indent="0">
              <a:buNone/>
              <a:defRPr sz="780"/>
            </a:lvl2pPr>
            <a:lvl3pPr marL="594704" indent="0">
              <a:buNone/>
              <a:defRPr sz="651"/>
            </a:lvl3pPr>
            <a:lvl4pPr marL="892056" indent="0">
              <a:buNone/>
              <a:defRPr sz="585"/>
            </a:lvl4pPr>
            <a:lvl5pPr marL="1189408" indent="0">
              <a:buNone/>
              <a:defRPr sz="585"/>
            </a:lvl5pPr>
            <a:lvl6pPr marL="1486760" indent="0">
              <a:buNone/>
              <a:defRPr sz="585"/>
            </a:lvl6pPr>
            <a:lvl7pPr marL="1784112" indent="0">
              <a:buNone/>
              <a:defRPr sz="585"/>
            </a:lvl7pPr>
            <a:lvl8pPr marL="2081465" indent="0">
              <a:buNone/>
              <a:defRPr sz="585"/>
            </a:lvl8pPr>
            <a:lvl9pPr marL="2378817" indent="0">
              <a:buNone/>
              <a:defRPr sz="5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1681" y="198157"/>
            <a:ext cx="1338107" cy="42219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357" y="198157"/>
            <a:ext cx="3915204" cy="42219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357" y="198156"/>
            <a:ext cx="5352430" cy="824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357" y="1154570"/>
            <a:ext cx="5352430" cy="3265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359" y="4586205"/>
            <a:ext cx="1387667" cy="263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31941" y="4586205"/>
            <a:ext cx="1883262" cy="263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121" y="4586205"/>
            <a:ext cx="1387667" cy="263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94704" rtl="0" eaLnBrk="1" latinLnBrk="0" hangingPunct="1">
        <a:spcBef>
          <a:spcPct val="0"/>
        </a:spcBef>
        <a:buNone/>
        <a:defRPr sz="28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014" indent="-223014" algn="l" defTabSz="594704" rtl="0" eaLnBrk="1" latinLnBrk="0" hangingPunct="1">
        <a:spcBef>
          <a:spcPct val="20000"/>
        </a:spcBef>
        <a:buFont typeface="Arial" pitchFamily="34" charset="0"/>
        <a:buChar char="�"/>
        <a:defRPr sz="2081" kern="1200">
          <a:solidFill>
            <a:schemeClr val="tx1"/>
          </a:solidFill>
          <a:latin typeface="+mn-lt"/>
          <a:ea typeface="+mn-ea"/>
          <a:cs typeface="+mn-cs"/>
        </a:defRPr>
      </a:lvl1pPr>
      <a:lvl2pPr marL="483197" indent="-185845" algn="l" defTabSz="594704" rtl="0" eaLnBrk="1" latinLnBrk="0" hangingPunct="1">
        <a:spcBef>
          <a:spcPct val="20000"/>
        </a:spcBef>
        <a:buFont typeface="Arial" pitchFamily="34" charset="0"/>
        <a:buChar char="�"/>
        <a:defRPr sz="1821" kern="1200">
          <a:solidFill>
            <a:schemeClr val="tx1"/>
          </a:solidFill>
          <a:latin typeface="+mn-lt"/>
          <a:ea typeface="+mn-ea"/>
          <a:cs typeface="+mn-cs"/>
        </a:defRPr>
      </a:lvl2pPr>
      <a:lvl3pPr marL="743380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561" kern="1200">
          <a:solidFill>
            <a:schemeClr val="tx1"/>
          </a:solidFill>
          <a:latin typeface="+mn-lt"/>
          <a:ea typeface="+mn-ea"/>
          <a:cs typeface="+mn-cs"/>
        </a:defRPr>
      </a:lvl3pPr>
      <a:lvl4pPr marL="1040732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38085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35437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32788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30140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27493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1pPr>
      <a:lvl2pPr marL="297352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2pPr>
      <a:lvl3pPr marL="594704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3pPr>
      <a:lvl4pPr marL="892056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4pPr>
      <a:lvl5pPr marL="1189408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5pPr>
      <a:lvl6pPr marL="1486760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6pPr>
      <a:lvl7pPr marL="1784112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7pPr>
      <a:lvl8pPr marL="2081465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8pPr>
      <a:lvl9pPr marL="2378817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5489003"/>
            <a:ext cx="5327650" cy="2070672"/>
            <a:chOff x="-156466" y="7866667"/>
            <a:chExt cx="8503408" cy="281904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6466" y="7866667"/>
              <a:ext cx="8503408" cy="28190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67695" y="839743"/>
            <a:ext cx="4566650" cy="5935381"/>
            <a:chOff x="584524" y="675138"/>
            <a:chExt cx="7021429" cy="912591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524" y="675138"/>
              <a:ext cx="7021429" cy="912591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31591" y="4727858"/>
            <a:ext cx="3881312" cy="1546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50" dirty="0"/>
              <a:t>저희가 개발한 </a:t>
            </a:r>
            <a:r>
              <a:rPr lang="en-US" altLang="ko-KR" sz="1050" dirty="0"/>
              <a:t>'</a:t>
            </a:r>
            <a:r>
              <a:rPr lang="en" altLang="ko-KR" sz="1050" dirty="0" err="1"/>
              <a:t>NoteFlow</a:t>
            </a:r>
            <a:r>
              <a:rPr lang="en" altLang="ko-KR" sz="1050" dirty="0"/>
              <a:t>'</a:t>
            </a:r>
            <a:r>
              <a:rPr lang="ko-KR" altLang="en-US" sz="1050" dirty="0"/>
              <a:t>는 </a:t>
            </a:r>
            <a:r>
              <a:rPr lang="en-US" altLang="ko-KR" sz="1050" dirty="0"/>
              <a:t>'</a:t>
            </a:r>
            <a:r>
              <a:rPr lang="ko-KR" altLang="en-US" sz="1050" dirty="0"/>
              <a:t>지식이 흐르듯 정리된다</a:t>
            </a:r>
            <a:r>
              <a:rPr lang="en-US" altLang="ko-KR" sz="1050" dirty="0"/>
              <a:t>'</a:t>
            </a:r>
            <a:r>
              <a:rPr lang="ko-KR" altLang="en-US" sz="1050" dirty="0"/>
              <a:t>는 의미를 가진 </a:t>
            </a:r>
            <a:r>
              <a:rPr lang="en" altLang="ko-KR" sz="1050" dirty="0"/>
              <a:t>AI </a:t>
            </a:r>
            <a:r>
              <a:rPr lang="ko-KR" altLang="en-US" sz="1050" dirty="0"/>
              <a:t>기반 학습 플랫폼입니다</a:t>
            </a:r>
            <a:r>
              <a:rPr lang="en-US" altLang="ko-KR" sz="1050" dirty="0"/>
              <a:t>. </a:t>
            </a:r>
            <a:r>
              <a:rPr lang="ko-KR" altLang="en-US" sz="1050" dirty="0"/>
              <a:t>기존의 음성 인식 서비스들이 주로 회의나 메모에 중점을 둔 것과 달리</a:t>
            </a:r>
            <a:r>
              <a:rPr lang="en-US" altLang="ko-KR" sz="1050" dirty="0"/>
              <a:t>, </a:t>
            </a:r>
            <a:r>
              <a:rPr lang="en" altLang="ko-KR" sz="1050" dirty="0" err="1"/>
              <a:t>NoteFlow</a:t>
            </a:r>
            <a:r>
              <a:rPr lang="ko-KR" altLang="en-US" sz="1050" dirty="0"/>
              <a:t>는 실제 학습 환경에 특화되었습니다</a:t>
            </a:r>
            <a:r>
              <a:rPr lang="en-US" altLang="ko-KR" sz="1050" dirty="0"/>
              <a:t>. </a:t>
            </a:r>
            <a:r>
              <a:rPr lang="ko-KR" altLang="en-US" sz="1050" dirty="0"/>
              <a:t>강의나 스터디 내용을 실시간 음성으로 변환하고 이미지 속 텍스트를 추출하며</a:t>
            </a:r>
            <a:r>
              <a:rPr lang="en-US" altLang="ko-KR" sz="1050" dirty="0"/>
              <a:t>, </a:t>
            </a:r>
            <a:r>
              <a:rPr lang="en" altLang="ko-KR" sz="1050" dirty="0"/>
              <a:t>AI</a:t>
            </a:r>
            <a:r>
              <a:rPr lang="ko-KR" altLang="en-US" sz="1050" dirty="0"/>
              <a:t>가 긴 내용을 자동으로 요약하고 핵심을 정리해 줍니다</a:t>
            </a:r>
            <a:r>
              <a:rPr lang="en-US" altLang="ko-KR" sz="1050" dirty="0"/>
              <a:t>. </a:t>
            </a:r>
            <a:r>
              <a:rPr lang="ko-KR" altLang="en-US" sz="1050" dirty="0"/>
              <a:t>가장 큰 특징은 이 요약본을 바탕으로 </a:t>
            </a:r>
            <a:r>
              <a:rPr lang="en" altLang="ko-KR" sz="1050" dirty="0"/>
              <a:t>AI</a:t>
            </a:r>
            <a:r>
              <a:rPr lang="ko-KR" altLang="en-US" sz="1050" dirty="0"/>
              <a:t>가 직접 예상 문제를 생성해 주어</a:t>
            </a:r>
            <a:r>
              <a:rPr lang="en-US" altLang="ko-KR" sz="1050" dirty="0"/>
              <a:t>, </a:t>
            </a:r>
            <a:r>
              <a:rPr lang="ko-KR" altLang="en-US" sz="1050" dirty="0"/>
              <a:t>사용자가 능동적으로 복습하고 시험 대비를 할 수 있도록 돕는 것입니다</a:t>
            </a:r>
            <a:r>
              <a:rPr lang="en-US" altLang="ko-KR" sz="1050" dirty="0"/>
              <a:t>.</a:t>
            </a:r>
            <a:endParaRPr lang="en-US" altLang="ko-KR" sz="1050" dirty="0">
              <a:effectLst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2275" y="6974055"/>
            <a:ext cx="808216" cy="2106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69" dirty="0">
                <a:solidFill>
                  <a:schemeClr val="bg1">
                    <a:lumMod val="65000"/>
                  </a:schemeClr>
                </a:solidFill>
                <a:latin typeface="Noto Sans CJK KR DemiLight" pitchFamily="34" charset="0"/>
                <a:cs typeface="Noto Sans CJK KR DemiLight" pitchFamily="34" charset="0"/>
              </a:rPr>
              <a:t>cs.kku.ac.kr</a:t>
            </a:r>
            <a:endParaRPr lang="en-US" sz="1009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002" y="177821"/>
            <a:ext cx="1157793" cy="493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26851" y="575924"/>
            <a:ext cx="1512226" cy="24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1" spc="-77" dirty="0">
                <a:solidFill>
                  <a:srgbClr val="1E1E1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COMPUTER ENGINEERING</a:t>
            </a:r>
            <a:endParaRPr lang="ko-KR" altLang="en-US" sz="961" spc="-77" dirty="0">
              <a:solidFill>
                <a:srgbClr val="1E1E1C"/>
              </a:solidFill>
              <a:latin typeface="Cambria Math" panose="02040503050406030204" pitchFamily="18" charset="0"/>
            </a:endParaRPr>
          </a:p>
        </p:txBody>
      </p:sp>
      <p:sp>
        <p:nvSpPr>
          <p:cNvPr id="28" name="Object 9"/>
          <p:cNvSpPr txBox="1"/>
          <p:nvPr/>
        </p:nvSpPr>
        <p:spPr>
          <a:xfrm>
            <a:off x="1061603" y="937043"/>
            <a:ext cx="3203781" cy="4473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7" kern="0" spc="-65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NoteFlow</a:t>
            </a:r>
            <a:endParaRPr lang="en-US" sz="481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0" name="Object 11"/>
          <p:cNvSpPr txBox="1"/>
          <p:nvPr/>
        </p:nvSpPr>
        <p:spPr>
          <a:xfrm>
            <a:off x="1479838" y="1331796"/>
            <a:ext cx="2355878" cy="2697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53" dirty="0">
                <a:solidFill>
                  <a:srgbClr val="000000"/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손준서 김경민</a:t>
            </a:r>
            <a:endParaRPr lang="en-US" sz="1153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4484" y="6873429"/>
            <a:ext cx="2576586" cy="502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46" spc="-77" dirty="0">
                <a:solidFill>
                  <a:schemeClr val="bg1">
                    <a:lumMod val="6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KONKUK UNIVERSITY</a:t>
            </a:r>
          </a:p>
          <a:p>
            <a:r>
              <a:rPr lang="en-US" altLang="ko-KR" sz="1346" spc="-77" dirty="0">
                <a:solidFill>
                  <a:schemeClr val="bg1">
                    <a:lumMod val="6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COMPUTER ENGINEERING</a:t>
            </a:r>
            <a:endParaRPr lang="ko-KR" altLang="en-US" sz="1346" spc="-77" dirty="0">
              <a:solidFill>
                <a:schemeClr val="bg1">
                  <a:lumMod val="6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5" name="Object 9"/>
          <p:cNvSpPr txBox="1"/>
          <p:nvPr/>
        </p:nvSpPr>
        <p:spPr>
          <a:xfrm>
            <a:off x="436568" y="938883"/>
            <a:ext cx="869900" cy="4436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7" kern="0" spc="-65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01</a:t>
            </a:r>
            <a:endParaRPr lang="en-US" sz="481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pic>
        <p:nvPicPr>
          <p:cNvPr id="5" name="Image 92">
            <a:extLst>
              <a:ext uri="{FF2B5EF4-FFF2-40B4-BE49-F238E27FC236}">
                <a16:creationId xmlns:a16="http://schemas.microsoft.com/office/drawing/2014/main" id="{CDA01792-0F7C-9582-D7EE-A44D7C47CA0D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72247" y="1789368"/>
            <a:ext cx="2160000" cy="1159978"/>
          </a:xfrm>
          <a:prstGeom prst="rect">
            <a:avLst/>
          </a:prstGeom>
        </p:spPr>
      </p:pic>
      <p:pic>
        <p:nvPicPr>
          <p:cNvPr id="7" name="Image 90">
            <a:extLst>
              <a:ext uri="{FF2B5EF4-FFF2-40B4-BE49-F238E27FC236}">
                <a16:creationId xmlns:a16="http://schemas.microsoft.com/office/drawing/2014/main" id="{6B015E71-2D57-F705-6D20-7EE6F59A7BCA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5549" y="1825623"/>
            <a:ext cx="2160000" cy="1159978"/>
          </a:xfrm>
          <a:prstGeom prst="rect">
            <a:avLst/>
          </a:prstGeom>
        </p:spPr>
      </p:pic>
      <p:pic>
        <p:nvPicPr>
          <p:cNvPr id="8" name="Image 94">
            <a:extLst>
              <a:ext uri="{FF2B5EF4-FFF2-40B4-BE49-F238E27FC236}">
                <a16:creationId xmlns:a16="http://schemas.microsoft.com/office/drawing/2014/main" id="{33D1F464-2475-AE21-F950-233C3B950F74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35549" y="3078102"/>
            <a:ext cx="2160000" cy="1159200"/>
          </a:xfrm>
          <a:prstGeom prst="rect">
            <a:avLst/>
          </a:prstGeom>
        </p:spPr>
      </p:pic>
      <p:pic>
        <p:nvPicPr>
          <p:cNvPr id="10" name="Image 98">
            <a:extLst>
              <a:ext uri="{FF2B5EF4-FFF2-40B4-BE49-F238E27FC236}">
                <a16:creationId xmlns:a16="http://schemas.microsoft.com/office/drawing/2014/main" id="{B0996A5D-DF3A-50FA-4A13-08F715C4A814}"/>
              </a:ext>
            </a:extLst>
          </p:cNvPr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657777" y="3078102"/>
            <a:ext cx="2160000" cy="11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6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101</Words>
  <Application>Microsoft Macintosh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나눔바른고딕OTF</vt:lpstr>
      <vt:lpstr>나눔바른고딕OTF Light</vt:lpstr>
      <vt:lpstr>Noto Sans CJK KR DemiLight</vt:lpstr>
      <vt:lpstr>Arial</vt:lpstr>
      <vt:lpstr>Calibri</vt:lpstr>
      <vt:lpstr>Cambria Math</vt:lpstr>
      <vt:lpstr>Office Theme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김경민</cp:lastModifiedBy>
  <cp:revision>19</cp:revision>
  <dcterms:created xsi:type="dcterms:W3CDTF">2022-11-08T15:31:23Z</dcterms:created>
  <dcterms:modified xsi:type="dcterms:W3CDTF">2025-10-29T12:28:12Z</dcterms:modified>
</cp:coreProperties>
</file>